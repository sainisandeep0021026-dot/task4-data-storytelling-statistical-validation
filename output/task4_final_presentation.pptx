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0e9452f0854884" /><Relationship Type="http://schemas.openxmlformats.org/officeDocument/2006/relationships/extended-properties" Target="/docProps/app.xml" Id="R84eea3d91bb94e98" /><Relationship Type="http://schemas.openxmlformats.org/officeDocument/2006/relationships/officeDocument" Target="/ppt/presentation.xml" Id="Raef7cfe36ec74b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8da910b5ca4c23"/>
  </p:sldMasterIdLst>
  <p:notesMasterIdLst>
    <p:notesMasterId xmlns:r="http://schemas.openxmlformats.org/officeDocument/2006/relationships" r:id="R1cc1482768cf4b2a"/>
  </p:notesMasterIdLst>
  <p:sldIdLst>
    <p:sldId xmlns:r="http://schemas.openxmlformats.org/officeDocument/2006/relationships" id="256" r:id="Rf1157f048ed14608"/>
    <p:sldId xmlns:r="http://schemas.openxmlformats.org/officeDocument/2006/relationships" id="257" r:id="R4c0f4fd4cd9646cb"/>
    <p:sldId xmlns:r="http://schemas.openxmlformats.org/officeDocument/2006/relationships" id="258" r:id="R71fa037f642d46a1"/>
    <p:sldId xmlns:r="http://schemas.openxmlformats.org/officeDocument/2006/relationships" id="259" r:id="R3bd63104346d4dea"/>
    <p:sldId xmlns:r="http://schemas.openxmlformats.org/officeDocument/2006/relationships" id="260" r:id="R52a4b0a715da4062"/>
    <p:sldId xmlns:r="http://schemas.openxmlformats.org/officeDocument/2006/relationships" id="261" r:id="R5f20c2a1906146bf"/>
    <p:sldId xmlns:r="http://schemas.openxmlformats.org/officeDocument/2006/relationships" id="262" r:id="R73ee2da784d84675"/>
    <p:sldId xmlns:r="http://schemas.openxmlformats.org/officeDocument/2006/relationships" id="263" r:id="Ref02ddb114184c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d9df6b6d94fb8" /><Relationship Type="http://schemas.openxmlformats.org/officeDocument/2006/relationships/slideMaster" Target="/ppt/slideMasters/slideMaster1.xml" Id="Rc78da910b5ca4c23" /><Relationship Type="http://schemas.openxmlformats.org/officeDocument/2006/relationships/notesMaster" Target="/ppt/notesMasters/notesMaster1.xml" Id="R1cc1482768cf4b2a" /><Relationship Type="http://schemas.openxmlformats.org/officeDocument/2006/relationships/presProps" Target="/ppt/presProps.xml" Id="R4728b281ab05474b" /><Relationship Type="http://schemas.openxmlformats.org/officeDocument/2006/relationships/tableStyles" Target="/ppt/tableStyles.xml" Id="R0f6ff4cd93644637" /><Relationship Type="http://schemas.openxmlformats.org/officeDocument/2006/relationships/slide" Target="/ppt/slides/slide1.xml" Id="Rf1157f048ed14608" /><Relationship Type="http://schemas.openxmlformats.org/officeDocument/2006/relationships/slide" Target="/ppt/slides/slide2.xml" Id="R4c0f4fd4cd9646cb" /><Relationship Type="http://schemas.openxmlformats.org/officeDocument/2006/relationships/slide" Target="/ppt/slides/slide3.xml" Id="R71fa037f642d46a1" /><Relationship Type="http://schemas.openxmlformats.org/officeDocument/2006/relationships/slide" Target="/ppt/slides/slide4.xml" Id="R3bd63104346d4dea" /><Relationship Type="http://schemas.openxmlformats.org/officeDocument/2006/relationships/slide" Target="/ppt/slides/slide5.xml" Id="R52a4b0a715da4062" /><Relationship Type="http://schemas.openxmlformats.org/officeDocument/2006/relationships/slide" Target="/ppt/slides/slide6.xml" Id="R5f20c2a1906146bf" /><Relationship Type="http://schemas.openxmlformats.org/officeDocument/2006/relationships/slide" Target="/ppt/slides/slide7.xml" Id="R73ee2da784d84675" /><Relationship Type="http://schemas.openxmlformats.org/officeDocument/2006/relationships/slide" Target="/ppt/slides/slide8.xml" Id="Ref02ddb114184c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3f60f177014e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447ea3eb034714" /><Relationship Type="http://schemas.openxmlformats.org/officeDocument/2006/relationships/notesMaster" Target="/ppt/notesMasters/notesMaster1.xml" Id="R2b6a57ff46394e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f7c27e824f463a" /><Relationship Type="http://schemas.openxmlformats.org/officeDocument/2006/relationships/notesMaster" Target="/ppt/notesMasters/notesMaster1.xml" Id="R24e9e135fe8646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be0515531d4f82" /><Relationship Type="http://schemas.openxmlformats.org/officeDocument/2006/relationships/notesMaster" Target="/ppt/notesMasters/notesMaster1.xml" Id="R037ebe871b9f4b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51882eee404f13" /><Relationship Type="http://schemas.openxmlformats.org/officeDocument/2006/relationships/notesMaster" Target="/ppt/notesMasters/notesMaster1.xml" Id="Ra1900fe0eb0442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d1f333b15449c1" /><Relationship Type="http://schemas.openxmlformats.org/officeDocument/2006/relationships/notesMaster" Target="/ppt/notesMasters/notesMaster1.xml" Id="R2b0187b1e26946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e66f6df47a47a2" /><Relationship Type="http://schemas.openxmlformats.org/officeDocument/2006/relationships/notesMaster" Target="/ppt/notesMasters/notesMaster1.xml" Id="Rf561354092cb4a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f2b1c0d7b40b1" /><Relationship Type="http://schemas.openxmlformats.org/officeDocument/2006/relationships/notesMaster" Target="/ppt/notesMasters/notesMaster1.xml" Id="R57ef57d7d6fc45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9f3d6cf85a4f8f" /><Relationship Type="http://schemas.openxmlformats.org/officeDocument/2006/relationships/notesMaster" Target="/ppt/notesMasters/notesMaster1.xml" Id="Raa4b7e60e0934f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9d63ec56041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eebaae712c44f8" /><Relationship Type="http://schemas.openxmlformats.org/officeDocument/2006/relationships/slideLayout" Target="/ppt/slideLayouts/slideLayout1.xml" Id="R09d53bc6bf874b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d53bc6bf874b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e6564679b417d" /><Relationship Type="http://schemas.openxmlformats.org/officeDocument/2006/relationships/notesSlide" Target="/ppt/notesSlides/notesSlide1.xml" Id="Rc032927bfeba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884e6d0ba474d" /><Relationship Type="http://schemas.openxmlformats.org/officeDocument/2006/relationships/notesSlide" Target="/ppt/notesSlides/notesSlide2.xml" Id="Rfd584ceeb68c4d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6a05e20044863" /><Relationship Type="http://schemas.openxmlformats.org/officeDocument/2006/relationships/notesSlide" Target="/ppt/notesSlides/notesSlide3.xml" Id="R07cf91968dfc49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3275898e94927" /><Relationship Type="http://schemas.openxmlformats.org/officeDocument/2006/relationships/chart" Target="/ppt/slides/charts/chart1.xml" Id="R656d7eac05834358" /><Relationship Type="http://schemas.openxmlformats.org/officeDocument/2006/relationships/notesSlide" Target="/ppt/notesSlides/notesSlide4.xml" Id="R4ae24894d4a24f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49ae162954577" /><Relationship Type="http://schemas.openxmlformats.org/officeDocument/2006/relationships/notesSlide" Target="/ppt/notesSlides/notesSlide5.xml" Id="Raa41d29e480c46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b8d3f43eb4811" /><Relationship Type="http://schemas.openxmlformats.org/officeDocument/2006/relationships/notesSlide" Target="/ppt/notesSlides/notesSlide6.xml" Id="R8db228fff6cd4e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c477aa2df439b" /><Relationship Type="http://schemas.openxmlformats.org/officeDocument/2006/relationships/notesSlide" Target="/ppt/notesSlides/notesSlide7.xml" Id="R7ba6035eca484d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cdcf6b0fa4393" /><Relationship Type="http://schemas.openxmlformats.org/officeDocument/2006/relationships/notesSlide" Target="/ppt/notesSlides/notesSlide8.xml" Id="Rff0f112b57f74ab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Realized sales</c:v>
          </c:tx>
          <c:spPr>
            <a:solidFill xmlns:a="http://schemas.openxmlformats.org/drawingml/2006/main">
              <a:srgbClr val="000000"/>
            </a:solidFill>
          </c:spPr>
          <c:dLbls/>
          <c:cat>
            <c:strLit>
              <c:ptCount val="4"/>
              <c:pt idx="0">
                <c:v>At-Risk / Recovery</c:v>
              </c:pt>
              <c:pt idx="1">
                <c:v>Champion Customers</c:v>
              </c:pt>
              <c:pt idx="2">
                <c:v>Loyal Multi-Buyers</c:v>
              </c:pt>
              <c:pt idx="3">
                <c:v>Growth Prospects</c:v>
              </c:pt>
            </c:strLit>
          </c:cat>
          <c:val>
            <c:numLit>
              <c:formatCode>General</c:formatCode>
              <c:ptCount val="4"/>
              <c:pt idx="0">
                <c:v>130146.17</c:v>
              </c:pt>
              <c:pt idx="1">
                <c:v>129983.88</c:v>
              </c:pt>
              <c:pt idx="2">
                <c:v>34183.59</c:v>
              </c:pt>
              <c:pt idx="3">
                <c:v>26520.7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79AE2-46FC-46CC-B345-B23A5802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DATA STORYTELLING AND STATISTICAL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F531D-7DD0-491A-B037-1FCA67C1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809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Revenue recovery needs focus on order quality, not just channel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19227-6317-48C0-BCE8-23FC40E5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A stakeholder presentation built from Tasks 1-3: cleaned data, EDA, customer segmentation, and statistical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DA4FE-B499-4BF2-B274-097AD0D8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FC281-C53A-4289-80C7-8F1F9118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76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Task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32424-4C80-4D27-8573-EA7B10AC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Hypothesis test summary and final presentation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ADEB8-8181-4BB5-85B6-F53FB59F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Data Analytics Internship | Task 4 | 1</a:t>
            </a:r>
          </a:p>
        </p:txBody>
      </p:sp>
    </p:spTree>
    <p:extLst>
      <p:ext uri="{BB962C8B-B14F-4D97-AF65-F5344CB8AC3E}">
        <p14:creationId xmlns:p14="http://schemas.microsoft.com/office/powerpoint/2010/main" val="1253571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A805A3-091A-43BA-8E7E-35F3E1E6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7521E-E3B4-4D56-A3BE-03265163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analysis moved from data hygiene to a focused revenue recovery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62AF7-30C6-42CE-A47C-57D9EA07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0047F-F98F-4A63-8583-C9468F6A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5637F-55AE-419F-A755-8539AF4B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Task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FAF0B-6184-400C-8611-8399EB3B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167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Cleaned the dataset and prepared reliable fields.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86EB7-32FC-4418-BC89-5F5F1667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147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AA7BD-493C-4AAF-A029-32861356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B2B67-AD2B-4222-A5CA-924A29D0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813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Task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90966-9532-4AB6-9C97-1631C87E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52800"/>
            <a:ext cx="167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Measured sales patterns through EDA and SQL questions.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768C3-EF12-4B2A-B92E-C8C0ADFF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147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03E74-19A8-4FFB-8E2B-CAA921F5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6C326-EE8E-40B5-932B-A6326208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Task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4E267-0ACA-49D3-A31F-617B16BC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2800"/>
            <a:ext cx="167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Segmented customers and built an interactive dashboard.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4264D-87D8-4F08-AD9D-1F76E86C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147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CC781-07E2-4C45-A929-4DF6E8A6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6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34E71-8567-4913-831C-56D7A3A0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Task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16E4F-5B5A-4B23-9A7A-5A29605B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52800"/>
            <a:ext cx="1676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Validated the story with a formal hypothesis test.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9D6B1-5C93-4DFC-81B0-EE7DA4AD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Data Analytics Internship | Task 4 | 2</a:t>
            </a:r>
          </a:p>
        </p:txBody>
      </p:sp>
    </p:spTree>
    <p:extLst>
      <p:ext uri="{BB962C8B-B14F-4D97-AF65-F5344CB8AC3E}">
        <p14:creationId xmlns:p14="http://schemas.microsoft.com/office/powerpoint/2010/main" val="960807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F9FCA-9D47-4368-92D5-047144ED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D42D3-46FC-48B4-8A0E-A6D8A0F5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issue is not demand volume. It is the gap between booked and realized revenue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20B96-4D45-45A5-8EA7-C24A7B14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7D289-60D5-4956-8374-93339077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3C383-BB69-47E2-BEFC-DBDCE4B4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Orders analyzed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860D2-1FE9-439C-8DC5-CF216750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AE407-2B4F-4A59-80C5-B66690B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Jan-Jun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C6758-8A07-4FDC-AA14-9FB6A4D3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907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E9B3F-E290-4B57-A2DF-542F3792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431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Booked net sales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49269-C3B6-404F-9DD2-6FDC106E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1937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₹6,30,196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41F3F-C10A-44CF-A1A6-76EB9A5F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670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All order statuses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ED4BD-0B20-4FE1-9A44-9D85524A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13B1C-9FFA-41D9-823F-80ED35DE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431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Realized sales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20D85-69C4-45BE-8FA4-95388DF0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1937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₹3,20,834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2C338-02A8-4B64-BFD0-360275E0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70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Delivered orders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FE83E-E2F0-4734-9C64-01EDC2C3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362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20EE8-8A76-4DCF-9CA7-76697BD6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Return/cancel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73E79-2DAF-401A-AD1D-ED42B23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19375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56.5%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1A5C0-FBA8-4C37-A1AA-2F7AFB92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78 failed 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0EC4C-1694-4B8F-9987-1C5589D0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More than half of orders did not become completed revenue. The business story is therefore about protecting realized sales and reducing leakage.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AA93B-48F6-45F4-A0A2-DB98DC50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Data Analytics Internship | Task 4 | 3</a:t>
            </a:r>
          </a:p>
        </p:txBody>
      </p:sp>
    </p:spTree>
    <p:extLst>
      <p:ext uri="{BB962C8B-B14F-4D97-AF65-F5344CB8AC3E}">
        <p14:creationId xmlns:p14="http://schemas.microsoft.com/office/powerpoint/2010/main" val="50450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C6D23-9AD1-4CDF-B51C-6138F244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B5436-481A-46E3-B342-6E5A5017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Customer segments show where value and risk overlap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380B2-24FD-4A7B-9D5B-2A170C89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6096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6d7eac0583435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86E19-2A1F-43DD-B00C-BC30E431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619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60D60-5381-492B-BA28-383D3147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955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The At-Risk / Recovery segment is both valuable and fragile.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AD0AC-5B4D-4813-BA2B-ED4FBDED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3000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It contributes ₹1,30,146 in realized sales while carrying a 78.0% return/cancel 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F3E96-A2F2-4723-A261-18549649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Data Analytics Internship | Task 4 | 4</a:t>
            </a:r>
          </a:p>
        </p:txBody>
      </p:sp>
    </p:spTree>
    <p:extLst>
      <p:ext uri="{BB962C8B-B14F-4D97-AF65-F5344CB8AC3E}">
        <p14:creationId xmlns:p14="http://schemas.microsoft.com/office/powerpoint/2010/main" val="16465338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BE2DD1-5D5C-46DA-BF51-49CF4AD4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27995-9FE1-47F7-BA2B-7088AF8A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We tested whether channel explains order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6FCB4-7EC4-45A5-8800-8DD34CC6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969F1-D1D2-4D3F-A012-5CC7602D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625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F7434-31D3-435F-B1D3-5F2E793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Hypotheses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39F1B-6216-471B-9E5B-F6F7FD70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0E4E9-5109-4330-A865-75A1945F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4800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H0: Online and offline delivery rates are equal.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46985-5570-4E6C-ACEE-6B717305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022B4-773E-4DC4-96E2-7FD7C8A1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H1: Online and offline delivery rates are different.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D584B-EF20-4A5C-9731-5112A603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FB1DA-6FD0-4A39-B97D-03376616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Test: two-proportion z-test at alpha = 0.05.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5005E-E27E-4B5F-A143-ED8A3AD1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4095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6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D880C-4975-44E6-84CA-CF72E699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Why this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A1A40-A00C-43E8-A48C-0865DDA7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If one channel is statistically stronger, strategy can shift toward that channel. If not, the business should focus on operational and customer segment actions.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6A179-52AA-469C-B01D-2B1C44E4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Data Analytics Internship | Task 4 | 5</a:t>
            </a:r>
          </a:p>
        </p:txBody>
      </p:sp>
    </p:spTree>
    <p:extLst>
      <p:ext uri="{BB962C8B-B14F-4D97-AF65-F5344CB8AC3E}">
        <p14:creationId xmlns:p14="http://schemas.microsoft.com/office/powerpoint/2010/main" val="4767039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FC45E3-1211-481D-8643-A80B2EF8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506BE-62D4-4858-81A7-BCBF026E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observed channel difference is not statistically significant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F6CF9-FC01-4C20-94BF-CE9C3718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4C0D7-1B51-4902-BFC2-5F11ED0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56DA2-04A3-4470-AB9C-9B0474F9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Online delivery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56820-A70B-4950-8D3F-39D18299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1937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46.3%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2DEA0-AADB-4BE4-B4C7-40CF52CD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25/54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3E676-3A1D-4B7B-B5EF-C157611C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38A32-FC6D-478A-8584-0A81FFA7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Offline delivery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BA2CD-DBFD-43D0-9B94-ED1E7AD6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1937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41.7%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03686-3910-4531-AE99-C497F2FC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670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35/84 orders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B1436-C968-4715-B13F-E8FD37F5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095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6CAE9-594F-4FC6-B416-3C7AEBA8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p-value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AD4F2-4089-4D5B-8FA2-EED10533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19375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0.592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4420B-7ECE-4520-9B15-1EA81CD5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Above alpha = 0.05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2FF7E-1D6F-4B9F-8D70-F577B954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247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FF9A2-D5FC-4B32-A592-E2AC4AA7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95% 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88726-478F-4514-90E8-CEDB6497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19375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-12.3% to 21.6%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9ED9F-639E-4DB1-84B4-BF8C3D0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67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Interval crosses zero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32769-4B0C-4907-9846-8BEB186F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Decision: fail to reject the null hypothesis. Channel should be monitored, but it is not validated as the main driver of delivery success.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03D92-3C42-4FB8-A6F9-40AF0980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Data Analytics Internship | Task 4 | 6</a:t>
            </a:r>
          </a:p>
        </p:txBody>
      </p:sp>
    </p:spTree>
    <p:extLst>
      <p:ext uri="{BB962C8B-B14F-4D97-AF65-F5344CB8AC3E}">
        <p14:creationId xmlns:p14="http://schemas.microsoft.com/office/powerpoint/2010/main" val="549055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106238-3FB5-493C-8A7E-2FF06BDC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4C9F1-FEAD-4D10-8003-9ECEF2E2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Management action should target order-quality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7E19B-0697-4622-9439-01A82891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80C9A-1AA5-47B4-82AB-3F8B02E2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80F5C-C603-438A-A936-B51E8BD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Protect Champion Customers with loyalty offers and priority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A9DD4-2D09-43DE-A2B5-512F7F86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0F2A7-F1CD-4ABC-9135-DEDA73C3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Launch recovery actions for At-Risk customers with high failed-order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D02FA-6E41-49F9-8C9C-6B6DB0AE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2116E-44DC-4655-9259-2A1F763A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95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Track realized sales, delivery rate, repeat rate, and return/cancel rate in every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DC7A8-8A51-4F76-82FC-76CD59E9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E14D0-3B61-4FCB-AA93-19C80918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Investigate returns and cancellations before shifting channel strategy.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0107A-0951-4C51-A10E-90619E53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Data Analytics Internship | Task 4 | 7</a:t>
            </a:r>
          </a:p>
        </p:txBody>
      </p:sp>
    </p:spTree>
    <p:extLst>
      <p:ext uri="{BB962C8B-B14F-4D97-AF65-F5344CB8AC3E}">
        <p14:creationId xmlns:p14="http://schemas.microsoft.com/office/powerpoint/2010/main" val="87324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488CDF-A8A3-4751-B897-357E0298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The validated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A1BF3-4619-47DE-888F-A809471A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828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</a:defRPr>
            </a:pPr>
            <a:r>
              <a:rPr sz="3900" b="1">
                <a:solidFill>
                  <a:srgbClr val="000000"/>
                </a:solidFill>
              </a:rPr>
              <a:t>Grow revenue by reducing leakage, not by assuming channel is the cause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36806-C982-4F15-92F5-DC01FF94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Task 4 resolves the earlier analysis: customer segment recovery and order-quality improvement are the clearest next actions, while the channel difference remains statistically unproven.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DE4CE-29B9-4EF6-936B-A5F493A4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28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3D725-0086-47AC-B157-E04AE743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669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Next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F02E9-F108-464B-AAAD-89BA27DB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38400"/>
            <a:ext cx="1562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Monitor KPI movement after recovery actions: realized sales, delivery rate, return/cancel rate, repeat 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F26AF-1406-4DD5-96F2-71E99619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Data Analytics Internship | Task 4 | 8</a:t>
            </a:r>
          </a:p>
        </p:txBody>
      </p:sp>
    </p:spTree>
    <p:extLst>
      <p:ext uri="{BB962C8B-B14F-4D97-AF65-F5344CB8AC3E}">
        <p14:creationId xmlns:p14="http://schemas.microsoft.com/office/powerpoint/2010/main" val="1387219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2026-07-17T07:07:09.0770000Z</dcterms:created>
  <dcterms:modified xsi:type="dcterms:W3CDTF">2026-07-17T07:07:09.0770000Z</dcterms:modified>
</coreProperties>
</file>